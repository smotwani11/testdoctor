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3429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6858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0287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3305176"/>
            <a:ext cx="7772401" cy="1021557"/>
          </a:xfrm>
          <a:prstGeom prst="rect">
            <a:avLst/>
          </a:prstGeom>
        </p:spPr>
        <p:txBody>
          <a:bodyPr anchor="t"/>
          <a:lstStyle>
            <a:lvl1pPr algn="l">
              <a:defRPr b="1" cap="all" sz="3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3429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6858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10287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13716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 marL="742950" indent="-400050">
              <a:defRPr sz="2100"/>
            </a:lvl2pPr>
            <a:lvl3pPr marL="1165860" indent="-480060">
              <a:defRPr sz="2100"/>
            </a:lvl3pPr>
            <a:lvl4pPr marL="1582615" indent="-553915">
              <a:defRPr sz="2100"/>
            </a:lvl4pPr>
            <a:lvl5pPr marL="1925515" indent="-553915"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b="1" sz="1800"/>
            </a:lvl1pPr>
            <a:lvl2pPr marL="0" indent="342900">
              <a:spcBef>
                <a:spcPts val="400"/>
              </a:spcBef>
              <a:buSzTx/>
              <a:buFontTx/>
              <a:buNone/>
              <a:defRPr b="1" sz="1800"/>
            </a:lvl2pPr>
            <a:lvl3pPr marL="0" indent="685800">
              <a:spcBef>
                <a:spcPts val="400"/>
              </a:spcBef>
              <a:buSzTx/>
              <a:buFontTx/>
              <a:buNone/>
              <a:defRPr b="1" sz="1800"/>
            </a:lvl3pPr>
            <a:lvl4pPr marL="0" indent="1028700">
              <a:spcBef>
                <a:spcPts val="400"/>
              </a:spcBef>
              <a:buSzTx/>
              <a:buFontTx/>
              <a:buNone/>
              <a:defRPr b="1" sz="1800"/>
            </a:lvl4pPr>
            <a:lvl5pPr marL="0" indent="1371600">
              <a:spcBef>
                <a:spcPts val="400"/>
              </a:spcBef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400"/>
              </a:spcBef>
              <a:buSzTx/>
              <a:buFontTx/>
              <a:buNone/>
              <a:defRPr b="1" sz="18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1" y="204786"/>
            <a:ext cx="3008314" cy="871539"/>
          </a:xfrm>
          <a:prstGeom prst="rect">
            <a:avLst/>
          </a:prstGeom>
        </p:spPr>
        <p:txBody>
          <a:bodyPr anchor="b"/>
          <a:lstStyle>
            <a:lvl1pPr algn="l">
              <a:defRPr b="1" sz="15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0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3600450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b="1" sz="15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4025503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342900">
              <a:spcBef>
                <a:spcPts val="200"/>
              </a:spcBef>
              <a:buSzTx/>
              <a:buFontTx/>
              <a:buNone/>
              <a:defRPr sz="1000"/>
            </a:lvl2pPr>
            <a:lvl3pPr marL="0" indent="685800">
              <a:spcBef>
                <a:spcPts val="200"/>
              </a:spcBef>
              <a:buSzTx/>
              <a:buFontTx/>
              <a:buNone/>
              <a:defRPr sz="1000"/>
            </a:lvl3pPr>
            <a:lvl4pPr marL="0" indent="1028700">
              <a:spcBef>
                <a:spcPts val="200"/>
              </a:spcBef>
              <a:buSzTx/>
              <a:buFontTx/>
              <a:buNone/>
              <a:defRPr sz="1000"/>
            </a:lvl4pPr>
            <a:lvl5pPr marL="0" indent="137160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66797" y="4801228"/>
            <a:ext cx="220003" cy="20591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34785" marR="0" indent="-391885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143000" marR="0" indent="-4572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5773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19202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2631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26060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29489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3291840" marR="0" indent="-54864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pPr/>
            <a:r>
              <a:t>2GPTestDoctor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140588">
              <a:spcBef>
                <a:spcPts val="200"/>
              </a:spcBef>
              <a:defRPr sz="984"/>
            </a:pPr>
            <a:r>
              <a:rPr b="1"/>
              <a:t>Automated Test Fixer for 2GP Packaging</a:t>
            </a:r>
            <a:br>
              <a:rPr b="1"/>
            </a:br>
            <a:br>
              <a:rPr b="1"/>
            </a:br>
            <a:r>
              <a:t>Sameer Motwani</a:t>
            </a:r>
          </a:p>
          <a:p>
            <a:pPr defTabSz="140588">
              <a:spcBef>
                <a:spcPts val="200"/>
              </a:spcBef>
              <a:defRPr sz="984"/>
            </a:pPr>
            <a:r>
              <a:t>Andrew Slater</a:t>
            </a:r>
          </a:p>
          <a:p>
            <a:pPr defTabSz="140588">
              <a:spcBef>
                <a:spcPts val="200"/>
              </a:spcBef>
              <a:defRPr sz="984"/>
            </a:pPr>
            <a:r>
              <a:t>Ganesh Tiwari</a:t>
            </a:r>
          </a:p>
          <a:p>
            <a:pPr defTabSz="140588">
              <a:spcBef>
                <a:spcPts val="200"/>
              </a:spcBef>
              <a:defRPr sz="984"/>
            </a:pPr>
            <a:r>
              <a:t>Ravi Panguluri</a:t>
            </a:r>
          </a:p>
          <a:p>
            <a:pPr defTabSz="140588">
              <a:spcBef>
                <a:spcPts val="200"/>
              </a:spcBef>
              <a:defRPr sz="984"/>
            </a:pPr>
            <a:r>
              <a:t>Sagar Joshi</a:t>
            </a:r>
          </a:p>
        </p:txBody>
      </p:sp>
      <p:sp>
        <p:nvSpPr>
          <p:cNvPr id="96" name="Date Placeholder 3"/>
          <p:cNvSpPr txBox="1"/>
          <p:nvPr/>
        </p:nvSpPr>
        <p:spPr>
          <a:xfrm>
            <a:off x="502919" y="4801228"/>
            <a:ext cx="20421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November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2GPTestDoctor</a:t>
            </a:r>
          </a:p>
        </p:txBody>
      </p:sp>
      <p:sp>
        <p:nvSpPr>
          <p:cNvPr id="99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/>
            </a:pPr>
            <a:r>
              <a:t>Automated Test Fixer for 2GP Packaging Tests</a:t>
            </a:r>
          </a:p>
          <a:p>
            <a:pPr marL="0" indent="0">
              <a:buSzTx/>
              <a:buNone/>
            </a:pPr>
            <a:r>
              <a:t>Diagnoses and heals test anti-patterns that cause autobuild failures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Situation</a:t>
            </a:r>
          </a:p>
        </p:txBody>
      </p:sp>
      <p:sp>
        <p:nvSpPr>
          <p:cNvPr id="102" name="Content Placeholder 2"/>
          <p:cNvSpPr txBox="1"/>
          <p:nvPr>
            <p:ph type="body" idx="1"/>
          </p:nvPr>
        </p:nvSpPr>
        <p:spPr>
          <a:xfrm>
            <a:off x="457200" y="1165435"/>
            <a:ext cx="8229601" cy="3394473"/>
          </a:xfrm>
          <a:prstGeom prst="rect">
            <a:avLst/>
          </a:prstGeom>
        </p:spPr>
        <p:txBody>
          <a:bodyPr/>
          <a:lstStyle/>
          <a:p>
            <a:pPr marL="0" indent="0" defTabSz="226314">
              <a:spcBef>
                <a:spcPts val="1900"/>
              </a:spcBef>
              <a:buSzTx/>
              <a:buNone/>
              <a:defRPr b="1" sz="1584"/>
            </a:pPr>
            <a:r>
              <a:t>Tests create/install packages but </a:t>
            </a:r>
            <a:r>
              <a:t>timeout in autobuilds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Missing message queue registrations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Missing test queue configurations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Missing synchronization annotations</a:t>
            </a:r>
          </a:p>
          <a:p>
            <a:pPr marL="0" indent="0" defTabSz="226314">
              <a:spcBef>
                <a:spcPts val="1900"/>
              </a:spcBef>
              <a:buSzTx/>
              <a:buNone/>
              <a:defRPr b="1" sz="1584"/>
            </a:pPr>
            <a:r>
              <a:t>Impact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❌ </a:t>
            </a:r>
            <a:r>
              <a:t>Flaky test failures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❌ </a:t>
            </a:r>
            <a:r>
              <a:t>Hides real test failures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❌ </a:t>
            </a:r>
            <a:r>
              <a:t>Hours spent debugging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❌ </a:t>
            </a:r>
            <a:r>
              <a:t>Manual fixes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as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Task</a:t>
            </a:r>
          </a:p>
        </p:txBody>
      </p:sp>
      <p:sp>
        <p:nvSpPr>
          <p:cNvPr id="105" name="Rule 1: Missing registerNewOrg() Calls…"/>
          <p:cNvSpPr txBox="1"/>
          <p:nvPr>
            <p:ph type="body" idx="1"/>
          </p:nvPr>
        </p:nvSpPr>
        <p:spPr>
          <a:xfrm>
            <a:off x="353054" y="1207094"/>
            <a:ext cx="8229601" cy="3394472"/>
          </a:xfrm>
          <a:prstGeom prst="rect">
            <a:avLst/>
          </a:prstGeom>
          <a:solidFill>
            <a:srgbClr val="FFFFFF"/>
          </a:solidFill>
        </p:spPr>
        <p:txBody>
          <a:bodyPr lIns="63500" tIns="63500" rIns="63500" bIns="63500"/>
          <a:lstStyle/>
          <a:p>
            <a:pPr marL="0" indent="0" defTabSz="425195">
              <a:spcBef>
                <a:spcPts val="1400"/>
              </a:spcBef>
              <a:buSzTx/>
              <a:buFontTx/>
              <a:buNone/>
              <a:defRPr b="1" sz="1860">
                <a:solidFill>
                  <a:srgbClr val="1F232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Rule 1: Missing registerNewOrg() Calls</a:t>
            </a:r>
          </a:p>
          <a:p>
            <a:pPr marL="0" indent="0" defTabSz="425195">
              <a:spcBef>
                <a:spcPts val="1400"/>
              </a:spcBef>
              <a:buSzTx/>
              <a:buFontTx/>
              <a:buNone/>
              <a:defRPr sz="1302">
                <a:solidFill>
                  <a:srgbClr val="1F232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Tests that create scratch orgs must register them with the message queue framework.</a:t>
            </a:r>
          </a:p>
          <a:p>
            <a:pPr marL="0" indent="0" defTabSz="425195">
              <a:spcBef>
                <a:spcPts val="1400"/>
              </a:spcBef>
              <a:buSzTx/>
              <a:buFontTx/>
              <a:buNone/>
              <a:defRPr b="1" sz="1860">
                <a:solidFill>
                  <a:srgbClr val="1F232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Rule 2: Missing USE_TEST_QUEUE</a:t>
            </a:r>
          </a:p>
          <a:p>
            <a:pPr marL="0" indent="0" defTabSz="425195">
              <a:spcBef>
                <a:spcPts val="1400"/>
              </a:spcBef>
              <a:buSzTx/>
              <a:buFontTx/>
              <a:buNone/>
              <a:defRPr sz="1302">
                <a:solidFill>
                  <a:srgbClr val="1F232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Tests extending BaseTest (not BaseBuildOrgTest) must use test queues.</a:t>
            </a:r>
          </a:p>
          <a:p>
            <a:pPr marL="0" indent="0" defTabSz="425195">
              <a:spcBef>
                <a:spcPts val="1400"/>
              </a:spcBef>
              <a:buSzTx/>
              <a:buFontTx/>
              <a:buNone/>
              <a:defRPr b="1" sz="1860">
                <a:solidFill>
                  <a:srgbClr val="1F232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Rule 3: Missing PACKAGE_INSTALL Mappings</a:t>
            </a:r>
          </a:p>
          <a:p>
            <a:pPr marL="0" indent="0" defTabSz="425195">
              <a:spcBef>
                <a:spcPts val="1400"/>
              </a:spcBef>
              <a:buSzTx/>
              <a:buFontTx/>
              <a:buNone/>
              <a:defRPr sz="1302">
                <a:solidFill>
                  <a:srgbClr val="1F232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Tests that install packages must have proper MQ type mappings.</a:t>
            </a:r>
          </a:p>
          <a:p>
            <a:pPr marL="0" indent="0" defTabSz="425195">
              <a:spcBef>
                <a:spcPts val="1400"/>
              </a:spcBef>
              <a:buSzTx/>
              <a:buFontTx/>
              <a:buNone/>
              <a:defRPr b="1" sz="1860">
                <a:solidFill>
                  <a:srgbClr val="1F232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Rule 4: Missing Countdown Latches</a:t>
            </a:r>
          </a:p>
          <a:p>
            <a:pPr marL="0" indent="0" defTabSz="425195">
              <a:spcBef>
                <a:spcPts val="1400"/>
              </a:spcBef>
              <a:buSzTx/>
              <a:buFontTx/>
              <a:buNone/>
              <a:defRPr sz="1302">
                <a:solidFill>
                  <a:srgbClr val="1F2328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Tests that create versions or do conversions must have countdown latches.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Action</a:t>
            </a:r>
          </a:p>
        </p:txBody>
      </p:sp>
      <p:sp>
        <p:nvSpPr>
          <p:cNvPr id="108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 defTabSz="219455">
              <a:spcBef>
                <a:spcPts val="1900"/>
              </a:spcBef>
              <a:buSzTx/>
              <a:buNone/>
              <a:defRPr b="1" sz="1536"/>
            </a:pPr>
            <a:r>
              <a:t>Built an Automated Fixer</a:t>
            </a:r>
          </a:p>
          <a:p>
            <a:pPr marL="0" indent="0" defTabSz="219455">
              <a:spcBef>
                <a:spcPts val="300"/>
              </a:spcBef>
              <a:buSzTx/>
              <a:buNone/>
              <a:defRPr b="1" sz="1536"/>
            </a:pPr>
            <a:r>
              <a:t>What it does:</a:t>
            </a:r>
          </a:p>
          <a:p>
            <a:pPr marL="219455" indent="-219455" defTabSz="219455">
              <a:spcBef>
                <a:spcPts val="300"/>
              </a:spcBef>
              <a:buFontTx/>
              <a:buAutoNum type="arabicPeriod" startAt="1"/>
              <a:defRPr b="1" sz="1536"/>
            </a:pPr>
            <a:r>
              <a:t>Scans</a:t>
            </a:r>
            <a:r>
              <a:rPr b="0"/>
              <a:t> tests in seconds</a:t>
            </a:r>
            <a:endParaRPr b="0"/>
          </a:p>
          <a:p>
            <a:pPr marL="219455" indent="-219455" defTabSz="219455">
              <a:spcBef>
                <a:spcPts val="300"/>
              </a:spcBef>
              <a:buFontTx/>
              <a:buAutoNum type="arabicPeriod" startAt="1"/>
              <a:defRPr b="1" sz="1536"/>
            </a:pPr>
            <a:r>
              <a:t>Detects</a:t>
            </a:r>
            <a:r>
              <a:rPr b="0"/>
              <a:t> 4 common anti-patterns</a:t>
            </a:r>
            <a:endParaRPr b="0"/>
          </a:p>
          <a:p>
            <a:pPr marL="219455" indent="-219455" defTabSz="219455">
              <a:spcBef>
                <a:spcPts val="300"/>
              </a:spcBef>
              <a:buFontTx/>
              <a:buAutoNum type="arabicPeriod" startAt="1"/>
              <a:defRPr b="1" sz="1536"/>
            </a:pPr>
            <a:r>
              <a:t>Auto-fixes</a:t>
            </a:r>
            <a:r>
              <a:rPr b="0"/>
              <a:t> with one command</a:t>
            </a:r>
            <a:endParaRPr b="0"/>
          </a:p>
          <a:p>
            <a:pPr marL="0" indent="0" defTabSz="219455">
              <a:spcBef>
                <a:spcPts val="300"/>
              </a:spcBef>
              <a:buSzTx/>
              <a:buNone/>
              <a:defRPr b="1" sz="1536"/>
            </a:pPr>
            <a:r>
              <a:t>4 Rules Fixed:</a:t>
            </a:r>
          </a:p>
          <a:p>
            <a:pPr marL="219455" indent="-219455" defTabSz="219455">
              <a:spcBef>
                <a:spcPts val="300"/>
              </a:spcBef>
              <a:defRPr sz="153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t>Missing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registerNewOrg()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219455" indent="-219455" defTabSz="219455">
              <a:spcBef>
                <a:spcPts val="300"/>
              </a:spcBef>
              <a:defRPr sz="153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t>Missing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USE_TEST_QUEUE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219455" indent="-219455" defTabSz="219455">
              <a:spcBef>
                <a:spcPts val="300"/>
              </a:spcBef>
              <a:defRPr sz="153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t>Missing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@MqTypeMapping</a:t>
            </a:r>
            <a:r>
              <a:t> for PACKAGE_INSTALL</a:t>
            </a:r>
          </a:p>
          <a:p>
            <a:pPr marL="219455" indent="-219455" defTabSz="219455">
              <a:spcBef>
                <a:spcPts val="300"/>
              </a:spcBef>
              <a:defRPr sz="153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t>Missing countdown latches for 2GP state machine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/>
          <p:nvPr>
            <p:ph type="title"/>
          </p:nvPr>
        </p:nvSpPr>
        <p:spPr>
          <a:xfrm>
            <a:off x="457200" y="204786"/>
            <a:ext cx="3008315" cy="871539"/>
          </a:xfrm>
          <a:prstGeom prst="rect">
            <a:avLst/>
          </a:prstGeom>
        </p:spPr>
        <p:txBody>
          <a:bodyPr/>
          <a:lstStyle/>
          <a:p>
            <a:pPr/>
            <a:r>
              <a:t>Result: The Impact</a:t>
            </a:r>
          </a:p>
        </p:txBody>
      </p:sp>
      <p:sp>
        <p:nvSpPr>
          <p:cNvPr id="111" name="Text Placeholder 3"/>
          <p:cNvSpPr txBox="1"/>
          <p:nvPr>
            <p:ph type="body" sz="half" idx="1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0"/>
              </a:spcBef>
              <a:buSzTx/>
              <a:buNone/>
              <a:defRPr b="1" sz="1000"/>
            </a:lvl1pPr>
          </a:lstStyle>
          <a:p>
            <a:pPr/>
            <a:r>
              <a:t>Massive Time Savings</a:t>
            </a:r>
          </a:p>
        </p:txBody>
      </p:sp>
      <p:graphicFrame>
        <p:nvGraphicFramePr>
          <p:cNvPr id="112" name="Content Placeholder 5"/>
          <p:cNvGraphicFramePr/>
          <p:nvPr/>
        </p:nvGraphicFramePr>
        <p:xfrm>
          <a:off x="3568700" y="203200"/>
          <a:ext cx="5105400" cy="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552700"/>
                <a:gridCol w="2552700"/>
              </a:tblGrid>
              <a:tr h="50800">
                <a:tc>
                  <a:txBody>
                    <a:bodyPr/>
                    <a:lstStyle/>
                    <a:p>
                      <a:pPr algn="l"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 defTabSz="342900">
                        <a:defRPr sz="1800"/>
                      </a:pPr>
                      <a:r>
                        <a:rPr sz="1300"/>
                        <a:t>Tests Scanned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800"/>
                      </a:pPr>
                      <a:r>
                        <a:rPr sz="1300"/>
                        <a:t>317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 defTabSz="342900">
                        <a:defRPr sz="1800"/>
                      </a:pPr>
                      <a:r>
                        <a:rPr sz="1300"/>
                        <a:t>Issues Fixed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800"/>
                      </a:pPr>
                      <a:r>
                        <a:rPr sz="1300"/>
                        <a:t>59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 defTabSz="342900">
                        <a:defRPr sz="1800"/>
                      </a:pPr>
                      <a:r>
                        <a:rPr sz="1300"/>
                        <a:t>Files Modified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800"/>
                      </a:pPr>
                      <a:r>
                        <a:rPr sz="1300"/>
                        <a:t>46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 defTabSz="342900">
                        <a:defRPr sz="1800"/>
                      </a:pPr>
                      <a:r>
                        <a:rPr sz="1300"/>
                        <a:t>Time to Fix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800"/>
                      </a:pPr>
                      <a:r>
                        <a:rPr b="1" sz="1300"/>
                        <a:t>&lt; 10 seconds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 defTabSz="342900">
                        <a:defRPr sz="1800"/>
                      </a:pPr>
                      <a:r>
                        <a:rPr sz="1300"/>
                        <a:t>Build Status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✅ </a:t>
                      </a:r>
                      <a:r>
                        <a:t>PASSING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0"/>
              </a:spcBef>
              <a:buSzTx/>
              <a:buNone/>
              <a:defRPr b="1"/>
            </a:pPr>
            <a:r>
              <a:t>ROI</a:t>
            </a:r>
          </a:p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❌ </a:t>
            </a:r>
            <a:r>
              <a:rPr b="1"/>
              <a:t>Manual:</a:t>
            </a:r>
            <a:r>
              <a:t> ~8-16 hours</a:t>
            </a:r>
          </a:p>
          <a:p>
            <a:pPr lvl="1" marL="685800" indent="-342900">
              <a:defRPr sz="2100"/>
            </a:pPr>
            <a:r>
              <a:t>Find issues: 317 files × 2 min = 10.5 hours</a:t>
            </a:r>
          </a:p>
          <a:p>
            <a:pPr lvl="1" marL="685800" indent="-342900">
              <a:defRPr sz="2100"/>
            </a:pPr>
            <a:r>
              <a:t>Apply fixes: 59 fixes × 5 min = 5 hours</a:t>
            </a:r>
          </a:p>
          <a:p>
            <a:pPr lvl="1" marL="685800" indent="-342900">
              <a:defRPr sz="2100"/>
            </a:pPr>
            <a:r>
              <a:t>Debug &amp; verify: 2-3 hours</a:t>
            </a:r>
          </a:p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rPr b="1"/>
              <a:t>Automated:</a:t>
            </a:r>
            <a:r>
              <a:t> </a:t>
            </a:r>
            <a:r>
              <a:rPr b="1"/>
              <a:t>10 seconds</a:t>
            </a:r>
            <a:endParaRPr b="1"/>
          </a:p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🚀 </a:t>
            </a:r>
            <a:r>
              <a:rPr b="1"/>
              <a:t>5,000x+ faster!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Demo: Before</a:t>
            </a:r>
          </a:p>
        </p:txBody>
      </p:sp>
      <p:sp>
        <p:nvSpPr>
          <p:cNvPr id="117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 defTabSz="315468">
              <a:spcBef>
                <a:spcPts val="2700"/>
              </a:spcBef>
              <a:buSzTx/>
              <a:buNone/>
              <a:defRPr b="1" sz="2208"/>
            </a:pPr>
            <a:r>
              <a:t>Code Without Annotations</a:t>
            </a:r>
          </a:p>
          <a:p>
            <a:pPr marL="0" indent="315468" defTabSz="315468">
              <a:buSzTx/>
              <a:buNone/>
              <a:defRPr sz="2208">
                <a:solidFill>
                  <a:srgbClr val="7D902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@UsesMessageQueue</a:t>
            </a:r>
            <a:br/>
            <a:r>
              <a:rPr b="1">
                <a:solidFill>
                  <a:srgbClr val="007020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1">
                <a:solidFill>
                  <a:srgbClr val="007020"/>
                </a:solidFill>
              </a:rPr>
              <a:t>class</a:t>
            </a:r>
            <a:r>
              <a:rPr>
                <a:solidFill>
                  <a:srgbClr val="000000"/>
                </a:solidFill>
              </a:rPr>
              <a:t> MyTest </a:t>
            </a:r>
            <a:r>
              <a:rPr b="1">
                <a:solidFill>
                  <a:srgbClr val="007020"/>
                </a:solidFill>
              </a:rPr>
              <a:t>extends</a:t>
            </a:r>
            <a:r>
              <a:rPr>
                <a:solidFill>
                  <a:srgbClr val="000000"/>
                </a:solidFill>
              </a:rPr>
              <a:t> BaseTest </a:t>
            </a:r>
            <a:r>
              <a:rPr>
                <a:solidFill>
                  <a:srgbClr val="666666"/>
                </a:solidFill>
              </a:rPr>
              <a:t>{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r>
              <a:rPr b="1">
                <a:solidFill>
                  <a:srgbClr val="007020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02000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6287E"/>
                </a:solidFill>
              </a:rPr>
              <a:t>testInstallPackage</a:t>
            </a:r>
            <a:r>
              <a:rPr>
                <a:solidFill>
                  <a:srgbClr val="666666"/>
                </a:solidFill>
              </a:rPr>
              <a:t>()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66666"/>
                </a:solidFill>
              </a:rPr>
              <a:t>{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    </a:t>
            </a:r>
            <a:r>
              <a:rPr i="1">
                <a:solidFill>
                  <a:srgbClr val="60A0B0"/>
                </a:solidFill>
              </a:rPr>
              <a:t>// Missing annotations - will timeout!</a:t>
            </a:r>
            <a:br>
              <a:rPr i="1">
                <a:solidFill>
                  <a:srgbClr val="60A0B0"/>
                </a:solidFill>
              </a:rPr>
            </a:b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06287E"/>
                </a:solidFill>
              </a:rPr>
              <a:t>installPackage</a:t>
            </a:r>
            <a:r>
              <a:rPr>
                <a:solidFill>
                  <a:srgbClr val="666666"/>
                </a:solidFill>
              </a:rPr>
              <a:t>(</a:t>
            </a:r>
            <a:r>
              <a:rPr>
                <a:solidFill>
                  <a:srgbClr val="000000"/>
                </a:solidFill>
              </a:rPr>
              <a:t>packageId</a:t>
            </a:r>
            <a:r>
              <a:rPr>
                <a:solidFill>
                  <a:srgbClr val="666666"/>
                </a:solidFill>
              </a:rPr>
              <a:t>);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r>
              <a:rPr>
                <a:solidFill>
                  <a:srgbClr val="666666"/>
                </a:solidFill>
              </a:rPr>
              <a:t>}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666666"/>
                </a:solidFill>
              </a:rPr>
              <a:t>}</a:t>
            </a:r>
            <a:endParaRPr>
              <a:solidFill>
                <a:srgbClr val="666666"/>
              </a:solidFill>
            </a:endParaRPr>
          </a:p>
          <a:p>
            <a:pPr marL="0" indent="0" defTabSz="315468">
              <a:buSzTx/>
              <a:buNone/>
              <a:defRPr b="1" sz="2208"/>
            </a:pPr>
            <a:r>
              <a:t>Problem:</a:t>
            </a:r>
            <a:r>
              <a:rPr b="0"/>
              <a:t> Test will timeout waiting for async operations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Demo: After</a:t>
            </a:r>
          </a:p>
        </p:txBody>
      </p:sp>
      <p:sp>
        <p:nvSpPr>
          <p:cNvPr id="120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 defTabSz="137160">
              <a:spcBef>
                <a:spcPts val="1200"/>
              </a:spcBef>
              <a:buSzTx/>
              <a:buNone/>
              <a:defRPr b="1" sz="960"/>
            </a:pPr>
            <a:r>
              <a:t>Code With All Annotations</a:t>
            </a:r>
          </a:p>
          <a:p>
            <a:pPr marL="0" indent="137160" defTabSz="137160">
              <a:spcBef>
                <a:spcPts val="200"/>
              </a:spcBef>
              <a:buSzTx/>
              <a:buNone/>
              <a:defRPr sz="960">
                <a:solidFill>
                  <a:srgbClr val="7D902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@UsesMessageQueue</a:t>
            </a:r>
            <a:br/>
            <a:r>
              <a:t>@MqTypeMappingList</a:t>
            </a:r>
            <a:r>
              <a:rPr>
                <a:solidFill>
                  <a:srgbClr val="666666"/>
                </a:solidFill>
              </a:rPr>
              <a:t>({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r>
              <a:t>@MqTypeMapping</a:t>
            </a:r>
            <a:r>
              <a:rPr>
                <a:solidFill>
                  <a:srgbClr val="666666"/>
                </a:solidFill>
              </a:rPr>
              <a:t>(</a:t>
            </a:r>
            <a:r>
              <a:rPr>
                <a:solidFill>
                  <a:srgbClr val="000000"/>
                </a:solidFill>
              </a:rPr>
              <a:t>type </a:t>
            </a:r>
            <a:r>
              <a:rPr>
                <a:solidFill>
                  <a:srgbClr val="666666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PACKAGE_INSTALL</a:t>
            </a:r>
            <a:r>
              <a:rPr>
                <a:solidFill>
                  <a:srgbClr val="666666"/>
                </a:solidFill>
              </a:rPr>
              <a:t>,</a:t>
            </a:r>
            <a:r>
              <a:rPr>
                <a:solidFill>
                  <a:srgbClr val="000000"/>
                </a:solidFill>
              </a:rPr>
              <a:t> 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        handler </a:t>
            </a:r>
            <a:r>
              <a:rPr>
                <a:solidFill>
                  <a:srgbClr val="666666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MetadataDeployQueueMessageTestHandler</a:t>
            </a:r>
            <a:r>
              <a:rPr>
                <a:solidFill>
                  <a:srgbClr val="666666"/>
                </a:solidFill>
              </a:rPr>
              <a:t>.</a:t>
            </a:r>
            <a:r>
              <a:rPr>
                <a:solidFill>
                  <a:srgbClr val="06287E"/>
                </a:solidFill>
              </a:rPr>
              <a:t>class</a:t>
            </a:r>
            <a:r>
              <a:rPr>
                <a:solidFill>
                  <a:srgbClr val="666666"/>
                </a:solidFill>
              </a:rPr>
              <a:t>),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r>
              <a:t>@MqTypeMapping</a:t>
            </a:r>
            <a:r>
              <a:rPr>
                <a:solidFill>
                  <a:srgbClr val="666666"/>
                </a:solidFill>
              </a:rPr>
              <a:t>(</a:t>
            </a:r>
            <a:r>
              <a:rPr>
                <a:solidFill>
                  <a:srgbClr val="000000"/>
                </a:solidFill>
              </a:rPr>
              <a:t>type </a:t>
            </a:r>
            <a:r>
              <a:rPr>
                <a:solidFill>
                  <a:srgbClr val="666666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PACKAGE_INSTALL_DEFAULT</a:t>
            </a:r>
            <a:r>
              <a:rPr>
                <a:solidFill>
                  <a:srgbClr val="666666"/>
                </a:solidFill>
              </a:rPr>
              <a:t>,</a:t>
            </a:r>
            <a:r>
              <a:rPr>
                <a:solidFill>
                  <a:srgbClr val="000000"/>
                </a:solidFill>
              </a:rPr>
              <a:t> 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        handler </a:t>
            </a:r>
            <a:r>
              <a:rPr>
                <a:solidFill>
                  <a:srgbClr val="666666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MetadataDeployQueueMessageTestHandler</a:t>
            </a:r>
            <a:r>
              <a:rPr>
                <a:solidFill>
                  <a:srgbClr val="666666"/>
                </a:solidFill>
              </a:rPr>
              <a:t>.</a:t>
            </a:r>
            <a:r>
              <a:rPr>
                <a:solidFill>
                  <a:srgbClr val="06287E"/>
                </a:solidFill>
              </a:rPr>
              <a:t>class</a:t>
            </a:r>
            <a:r>
              <a:rPr>
                <a:solidFill>
                  <a:srgbClr val="666666"/>
                </a:solidFill>
              </a:rPr>
              <a:t>)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666666"/>
                </a:solidFill>
              </a:rPr>
              <a:t>})</a:t>
            </a:r>
            <a:br>
              <a:rPr>
                <a:solidFill>
                  <a:srgbClr val="666666"/>
                </a:solidFill>
              </a:rPr>
            </a:br>
            <a:r>
              <a:t>@MqCustomCountDownLatchList</a:t>
            </a:r>
            <a:r>
              <a:rPr>
                <a:solidFill>
                  <a:srgbClr val="666666"/>
                </a:solidFill>
              </a:rPr>
              <a:t>({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r>
              <a:t>@MqCustomCountDownLatch</a:t>
            </a:r>
            <a:r>
              <a:rPr>
                <a:solidFill>
                  <a:srgbClr val="666666"/>
                </a:solidFill>
              </a:rPr>
              <a:t>(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    name </a:t>
            </a:r>
            <a:r>
              <a:rPr>
                <a:solidFill>
                  <a:srgbClr val="666666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CREATE_ARTIFACT_VERSION_PREPARING_ENDPOINT_LATCH</a:t>
            </a:r>
            <a:r>
              <a:rPr>
                <a:solidFill>
                  <a:srgbClr val="666666"/>
                </a:solidFill>
              </a:rPr>
              <a:t>,</a:t>
            </a:r>
            <a:r>
              <a:rPr>
                <a:solidFill>
                  <a:srgbClr val="000000"/>
                </a:solidFill>
              </a:rPr>
              <a:t> 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        timeout </a:t>
            </a:r>
            <a:r>
              <a:rPr>
                <a:solidFill>
                  <a:srgbClr val="666666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0A070"/>
                </a:solidFill>
              </a:rPr>
              <a:t>600</a:t>
            </a:r>
            <a:r>
              <a:rPr>
                <a:solidFill>
                  <a:srgbClr val="666666"/>
                </a:solidFill>
              </a:rPr>
              <a:t>)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666666"/>
                </a:solidFill>
              </a:rPr>
              <a:t>})</a:t>
            </a:r>
            <a:br>
              <a:rPr>
                <a:solidFill>
                  <a:srgbClr val="666666"/>
                </a:solidFill>
              </a:rPr>
            </a:br>
            <a:r>
              <a:rPr b="1">
                <a:solidFill>
                  <a:srgbClr val="007020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1">
                <a:solidFill>
                  <a:srgbClr val="007020"/>
                </a:solidFill>
              </a:rPr>
              <a:t>class</a:t>
            </a:r>
            <a:r>
              <a:rPr>
                <a:solidFill>
                  <a:srgbClr val="000000"/>
                </a:solidFill>
              </a:rPr>
              <a:t> MyTest </a:t>
            </a:r>
            <a:r>
              <a:rPr b="1">
                <a:solidFill>
                  <a:srgbClr val="007020"/>
                </a:solidFill>
              </a:rPr>
              <a:t>extends</a:t>
            </a:r>
            <a:r>
              <a:rPr>
                <a:solidFill>
                  <a:srgbClr val="000000"/>
                </a:solidFill>
              </a:rPr>
              <a:t> BaseTest </a:t>
            </a:r>
            <a:r>
              <a:rPr>
                <a:solidFill>
                  <a:srgbClr val="666666"/>
                </a:solidFill>
              </a:rPr>
              <a:t>{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r>
              <a:t>@Override</a:t>
            </a:r>
            <a:br/>
            <a:r>
              <a:rPr>
                <a:solidFill>
                  <a:srgbClr val="000000"/>
                </a:solidFill>
              </a:rPr>
              <a:t>    </a:t>
            </a:r>
            <a:r>
              <a:rPr b="1">
                <a:solidFill>
                  <a:srgbClr val="007020"/>
                </a:solidFill>
              </a:rPr>
              <a:t>protected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02000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6287E"/>
                </a:solidFill>
              </a:rPr>
              <a:t>ftestSetUp</a:t>
            </a:r>
            <a:r>
              <a:rPr>
                <a:solidFill>
                  <a:srgbClr val="666666"/>
                </a:solidFill>
              </a:rPr>
              <a:t>()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1">
                <a:solidFill>
                  <a:srgbClr val="007020"/>
                </a:solidFill>
              </a:rPr>
              <a:t>throws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8000"/>
                </a:solidFill>
              </a:rPr>
              <a:t>Exception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66666"/>
                </a:solidFill>
              </a:rPr>
              <a:t>{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    </a:t>
            </a:r>
            <a:r>
              <a:rPr b="1">
                <a:solidFill>
                  <a:srgbClr val="007020"/>
                </a:solidFill>
              </a:rPr>
              <a:t>super</a:t>
            </a:r>
            <a:r>
              <a:rPr>
                <a:solidFill>
                  <a:srgbClr val="666666"/>
                </a:solidFill>
              </a:rPr>
              <a:t>.</a:t>
            </a:r>
            <a:r>
              <a:rPr>
                <a:solidFill>
                  <a:srgbClr val="06287E"/>
                </a:solidFill>
              </a:rPr>
              <a:t>ftestSetUp</a:t>
            </a:r>
            <a:r>
              <a:rPr>
                <a:solidFill>
                  <a:srgbClr val="666666"/>
                </a:solidFill>
              </a:rPr>
              <a:t>();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    TestContext</a:t>
            </a:r>
            <a:r>
              <a:rPr>
                <a:solidFill>
                  <a:srgbClr val="666666"/>
                </a:solidFill>
              </a:rPr>
              <a:t>.</a:t>
            </a:r>
            <a:r>
              <a:rPr>
                <a:solidFill>
                  <a:srgbClr val="06287E"/>
                </a:solidFill>
              </a:rPr>
              <a:t>pushTestValue</a:t>
            </a:r>
            <a:r>
              <a:rPr>
                <a:solidFill>
                  <a:srgbClr val="666666"/>
                </a:solidFill>
              </a:rPr>
              <a:t>(</a:t>
            </a:r>
            <a:r>
              <a:rPr>
                <a:solidFill>
                  <a:srgbClr val="000000"/>
                </a:solidFill>
              </a:rPr>
              <a:t>UserContext</a:t>
            </a:r>
            <a:r>
              <a:rPr>
                <a:solidFill>
                  <a:srgbClr val="666666"/>
                </a:solidFill>
              </a:rPr>
              <a:t>.</a:t>
            </a:r>
            <a:r>
              <a:rPr>
                <a:solidFill>
                  <a:srgbClr val="06287E"/>
                </a:solidFill>
              </a:rPr>
              <a:t>get</a:t>
            </a:r>
            <a:r>
              <a:rPr>
                <a:solidFill>
                  <a:srgbClr val="666666"/>
                </a:solidFill>
              </a:rPr>
              <a:t>().</a:t>
            </a:r>
            <a:r>
              <a:rPr>
                <a:solidFill>
                  <a:srgbClr val="06287E"/>
                </a:solidFill>
              </a:rPr>
              <a:t>getUserId</a:t>
            </a:r>
            <a:r>
              <a:rPr>
                <a:solidFill>
                  <a:srgbClr val="666666"/>
                </a:solidFill>
              </a:rPr>
              <a:t>(),</a:t>
            </a:r>
            <a:r>
              <a:rPr>
                <a:solidFill>
                  <a:srgbClr val="000000"/>
                </a:solidFill>
              </a:rPr>
              <a:t> 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            AqSpecificOptions</a:t>
            </a:r>
            <a:r>
              <a:rPr>
                <a:solidFill>
                  <a:srgbClr val="666666"/>
                </a:solidFill>
              </a:rPr>
              <a:t>.</a:t>
            </a:r>
            <a:r>
              <a:rPr>
                <a:solidFill>
                  <a:srgbClr val="06287E"/>
                </a:solidFill>
              </a:rPr>
              <a:t>USE_TEST_QUEUE</a:t>
            </a:r>
            <a:r>
              <a:rPr>
                <a:solidFill>
                  <a:srgbClr val="666666"/>
                </a:solidFill>
              </a:rPr>
              <a:t>,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1">
                <a:solidFill>
                  <a:srgbClr val="007020"/>
                </a:solidFill>
              </a:rPr>
              <a:t>true</a:t>
            </a:r>
            <a:r>
              <a:rPr>
                <a:solidFill>
                  <a:srgbClr val="666666"/>
                </a:solidFill>
              </a:rPr>
              <a:t>,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1">
                <a:solidFill>
                  <a:srgbClr val="007020"/>
                </a:solidFill>
              </a:rPr>
              <a:t>null</a:t>
            </a:r>
            <a:r>
              <a:rPr>
                <a:solidFill>
                  <a:srgbClr val="666666"/>
                </a:solidFill>
              </a:rPr>
              <a:t>);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r>
              <a:rPr>
                <a:solidFill>
                  <a:srgbClr val="666666"/>
                </a:solidFill>
              </a:rPr>
              <a:t>}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r>
              <a:rPr b="1">
                <a:solidFill>
                  <a:srgbClr val="007020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02000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6287E"/>
                </a:solidFill>
              </a:rPr>
              <a:t>testInstallPackage</a:t>
            </a:r>
            <a:r>
              <a:rPr>
                <a:solidFill>
                  <a:srgbClr val="666666"/>
                </a:solidFill>
              </a:rPr>
              <a:t>()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66666"/>
                </a:solidFill>
              </a:rPr>
              <a:t>{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06287E"/>
                </a:solidFill>
              </a:rPr>
              <a:t>installPackage</a:t>
            </a:r>
            <a:r>
              <a:rPr>
                <a:solidFill>
                  <a:srgbClr val="666666"/>
                </a:solidFill>
              </a:rPr>
              <a:t>(</a:t>
            </a:r>
            <a:r>
              <a:rPr>
                <a:solidFill>
                  <a:srgbClr val="000000"/>
                </a:solidFill>
              </a:rPr>
              <a:t>packageId</a:t>
            </a:r>
            <a:r>
              <a:rPr>
                <a:solidFill>
                  <a:srgbClr val="666666"/>
                </a:solidFill>
              </a:rPr>
              <a:t>);</a:t>
            </a:r>
            <a:r>
              <a:rPr>
                <a:solidFill>
                  <a:srgbClr val="000000"/>
                </a:solidFill>
              </a:rPr>
              <a:t>  </a:t>
            </a:r>
            <a:r>
              <a:rPr i="1">
                <a:solidFill>
                  <a:srgbClr val="60A0B0"/>
                </a:solidFill>
              </a:rPr>
              <a:t>// Now works!</a:t>
            </a:r>
            <a:br>
              <a:rPr i="1">
                <a:solidFill>
                  <a:srgbClr val="60A0B0"/>
                </a:solidFill>
              </a:rPr>
            </a:br>
            <a:r>
              <a:rPr>
                <a:solidFill>
                  <a:srgbClr val="000000"/>
                </a:solidFill>
              </a:rPr>
              <a:t>    </a:t>
            </a:r>
            <a:r>
              <a:rPr>
                <a:solidFill>
                  <a:srgbClr val="666666"/>
                </a:solidFill>
              </a:rPr>
              <a:t>}</a:t>
            </a:r>
            <a:br>
              <a:rPr>
                <a:solidFill>
                  <a:srgbClr val="666666"/>
                </a:solidFill>
              </a:rPr>
            </a:br>
            <a:r>
              <a:rPr>
                <a:solidFill>
                  <a:srgbClr val="666666"/>
                </a:solidFill>
              </a:rP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Demo: Live Terminal</a:t>
            </a:r>
          </a:p>
        </p:txBody>
      </p:sp>
      <p:sp>
        <p:nvSpPr>
          <p:cNvPr id="123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 defTabSz="260604">
              <a:spcBef>
                <a:spcPts val="2200"/>
              </a:spcBef>
              <a:buSzTx/>
              <a:buNone/>
              <a:defRPr b="1" sz="1824"/>
            </a:pPr>
            <a:r>
              <a:t>Three Simple Commands</a:t>
            </a:r>
          </a:p>
          <a:p>
            <a:pPr marL="0" indent="260604" defTabSz="260604">
              <a:spcBef>
                <a:spcPts val="400"/>
              </a:spcBef>
              <a:buSzTx/>
              <a:buNone/>
              <a:defRPr i="1" sz="1824">
                <a:solidFill>
                  <a:srgbClr val="60A0B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1. Scan for issues</a:t>
            </a:r>
            <a:br/>
            <a:r>
              <a:rPr i="0">
                <a:solidFill>
                  <a:srgbClr val="000000"/>
                </a:solidFill>
              </a:rPr>
              <a:t>python3 testdoctor.py scan </a:t>
            </a:r>
            <a:r>
              <a:rPr i="0">
                <a:solidFill>
                  <a:srgbClr val="7D9029"/>
                </a:solidFill>
              </a:rPr>
              <a:t>--path</a:t>
            </a:r>
            <a:r>
              <a:rPr i="0">
                <a:solidFill>
                  <a:srgbClr val="000000"/>
                </a:solidFill>
              </a:rPr>
              <a:t> ../core/artifacts/test/func</a:t>
            </a:r>
            <a:br>
              <a:rPr i="0">
                <a:solidFill>
                  <a:srgbClr val="000000"/>
                </a:solidFill>
              </a:rPr>
            </a:br>
            <a:br>
              <a:rPr i="0">
                <a:solidFill>
                  <a:srgbClr val="000000"/>
                </a:solidFill>
              </a:rPr>
            </a:br>
            <a:r>
              <a:t># 2. Fix all issues</a:t>
            </a:r>
            <a:br/>
            <a:r>
              <a:rPr i="0">
                <a:solidFill>
                  <a:srgbClr val="000000"/>
                </a:solidFill>
              </a:rPr>
              <a:t>python3 testdoctor.py fix </a:t>
            </a:r>
            <a:r>
              <a:rPr i="0">
                <a:solidFill>
                  <a:srgbClr val="7D9029"/>
                </a:solidFill>
              </a:rPr>
              <a:t>--all</a:t>
            </a:r>
            <a:r>
              <a:rPr i="0">
                <a:solidFill>
                  <a:srgbClr val="000000"/>
                </a:solidFill>
              </a:rPr>
              <a:t> </a:t>
            </a:r>
            <a:r>
              <a:rPr i="0">
                <a:solidFill>
                  <a:srgbClr val="7D9029"/>
                </a:solidFill>
              </a:rPr>
              <a:t>--auto</a:t>
            </a:r>
            <a:br>
              <a:rPr i="0">
                <a:solidFill>
                  <a:srgbClr val="7D9029"/>
                </a:solidFill>
              </a:rPr>
            </a:br>
            <a:br>
              <a:rPr i="0">
                <a:solidFill>
                  <a:srgbClr val="7D9029"/>
                </a:solidFill>
              </a:rPr>
            </a:br>
            <a:r>
              <a:t># 3. Verify build</a:t>
            </a:r>
            <a:br/>
            <a:r>
              <a:rPr i="0">
                <a:solidFill>
                  <a:srgbClr val="000000"/>
                </a:solidFill>
              </a:rPr>
              <a:t>bazel build //artifacts/test/func:func</a:t>
            </a:r>
            <a:endParaRPr i="0">
              <a:solidFill>
                <a:srgbClr val="000000"/>
              </a:solidFill>
            </a:endParaRPr>
          </a:p>
          <a:p>
            <a:pPr marL="0" indent="0" defTabSz="260604">
              <a:spcBef>
                <a:spcPts val="400"/>
              </a:spcBef>
              <a:buSzTx/>
              <a:buNone/>
              <a:defRPr b="1" sz="1824"/>
            </a:pPr>
            <a:r>
              <a:t>Result:</a:t>
            </a:r>
            <a:r>
              <a:rPr b="0">
                <a:latin typeface="+mj-lt"/>
                <a:ea typeface="+mj-ea"/>
                <a:cs typeface="+mj-cs"/>
                <a:sym typeface="Helvetica"/>
              </a:rPr>
              <a:t> ✅ </a:t>
            </a:r>
            <a:r>
              <a:rPr b="0"/>
              <a:t>All 59 issues fixed, build passes!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126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 defTabSz="226314">
              <a:spcBef>
                <a:spcPts val="1900"/>
              </a:spcBef>
              <a:buSzTx/>
              <a:buNone/>
              <a:defRPr b="1" sz="1584"/>
            </a:pPr>
            <a:r>
              <a:t>Before 2GPTestDoctor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Tests at risk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Slow TF’s hide real TF’s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Manual fixes take hours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Inconsistent patterns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Autobuild failures</a:t>
            </a:r>
          </a:p>
          <a:p>
            <a:pPr marL="0" indent="0" defTabSz="226314">
              <a:spcBef>
                <a:spcPts val="1900"/>
              </a:spcBef>
              <a:buSzTx/>
              <a:buNone/>
              <a:defRPr b="1" sz="1584"/>
            </a:pPr>
            <a:r>
              <a:t>After 2GPTestDoctor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All issues fixed in 10 seconds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Consistent patterns across codebase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Build passes on first try</a:t>
            </a:r>
          </a:p>
          <a:p>
            <a:pPr marL="226314" indent="-226314" defTabSz="226314">
              <a:spcBef>
                <a:spcPts val="300"/>
              </a:spcBef>
              <a:defRPr sz="1584"/>
            </a:pPr>
            <a:r>
              <a:t>Reusable for future tests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Built with Windsurf Cascade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🤖</a:t>
            </a:r>
          </a:p>
        </p:txBody>
      </p:sp>
      <p:sp>
        <p:nvSpPr>
          <p:cNvPr id="129" name="Content Placeholder 2"/>
          <p:cNvSpPr txBox="1"/>
          <p:nvPr>
            <p:ph type="body" idx="1"/>
          </p:nvPr>
        </p:nvSpPr>
        <p:spPr>
          <a:xfrm>
            <a:off x="387769" y="1172378"/>
            <a:ext cx="8229601" cy="3394473"/>
          </a:xfrm>
          <a:prstGeom prst="rect">
            <a:avLst/>
          </a:prstGeom>
        </p:spPr>
        <p:txBody>
          <a:bodyPr/>
          <a:lstStyle/>
          <a:p>
            <a:pPr marL="0" indent="0" defTabSz="168021">
              <a:spcBef>
                <a:spcPts val="1400"/>
              </a:spcBef>
              <a:buSzTx/>
              <a:buNone/>
              <a:defRPr b="1" sz="1176"/>
            </a:pPr>
            <a:r>
              <a:t>AI-Powered Development</a:t>
            </a:r>
          </a:p>
          <a:p>
            <a:pPr marL="0" indent="0" defTabSz="168021">
              <a:spcBef>
                <a:spcPts val="200"/>
              </a:spcBef>
              <a:buSzTx/>
              <a:buNone/>
              <a:defRPr b="1" sz="1176"/>
            </a:pPr>
            <a:r>
              <a:t>This entire project was built using Windsurf Cascade:</a:t>
            </a:r>
          </a:p>
          <a:p>
            <a:pPr marL="168021" indent="-168021" defTabSz="168021">
              <a:spcBef>
                <a:spcPts val="200"/>
              </a:spcBef>
              <a:defRPr sz="11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rPr b="1"/>
              <a:t>Tool Development</a:t>
            </a:r>
            <a:r>
              <a:t> - 710 lines of Python code</a:t>
            </a:r>
          </a:p>
          <a:p>
            <a:pPr marL="168021" indent="-168021" defTabSz="168021">
              <a:spcBef>
                <a:spcPts val="200"/>
              </a:spcBef>
              <a:defRPr sz="11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rPr b="1"/>
              <a:t>Pattern Detection</a:t>
            </a:r>
            <a:r>
              <a:t> - 4 sophisticated rules</a:t>
            </a:r>
          </a:p>
          <a:p>
            <a:pPr marL="168021" indent="-168021" defTabSz="168021">
              <a:spcBef>
                <a:spcPts val="200"/>
              </a:spcBef>
              <a:defRPr sz="11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rPr b="1"/>
              <a:t>Annotation Merging</a:t>
            </a:r>
            <a:r>
              <a:t> - Complex AST-like logic</a:t>
            </a:r>
          </a:p>
          <a:p>
            <a:pPr marL="168021" indent="-168021" defTabSz="168021">
              <a:spcBef>
                <a:spcPts val="200"/>
              </a:spcBef>
              <a:defRPr sz="11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rPr b="1"/>
              <a:t>Unit Tests</a:t>
            </a:r>
            <a:r>
              <a:t> - 10 comprehensive test cases</a:t>
            </a:r>
          </a:p>
          <a:p>
            <a:pPr marL="168021" indent="-168021" defTabSz="168021">
              <a:spcBef>
                <a:spcPts val="200"/>
              </a:spcBef>
              <a:defRPr sz="11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rPr b="1"/>
              <a:t>Documentation</a:t>
            </a:r>
            <a:r>
              <a:t> - Complete README, guides, reports</a:t>
            </a:r>
          </a:p>
          <a:p>
            <a:pPr marL="168021" indent="-168021" defTabSz="168021">
              <a:spcBef>
                <a:spcPts val="200"/>
              </a:spcBef>
              <a:defRPr sz="11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</a:t>
            </a:r>
            <a:r>
              <a:rPr b="1"/>
              <a:t>This Presentation</a:t>
            </a:r>
            <a:r>
              <a:t> - Generated automatically</a:t>
            </a:r>
          </a:p>
          <a:p>
            <a:pPr marL="0" indent="0" defTabSz="168021">
              <a:spcBef>
                <a:spcPts val="1400"/>
              </a:spcBef>
              <a:buSzTx/>
              <a:buNone/>
              <a:defRPr b="1" sz="1176"/>
            </a:pPr>
            <a:r>
              <a:t>Human Contribution</a:t>
            </a:r>
          </a:p>
          <a:p>
            <a:pPr marL="0" indent="0" defTabSz="168021">
              <a:spcBef>
                <a:spcPts val="200"/>
              </a:spcBef>
              <a:buSzTx/>
              <a:buNone/>
              <a:defRPr b="1" sz="1176"/>
            </a:pPr>
            <a:r>
              <a:t>Our role:</a:t>
            </a:r>
            <a:r>
              <a:rPr b="0"/>
              <a:t> Providing prompts with business rules</a:t>
            </a:r>
          </a:p>
          <a:p>
            <a:pPr marL="0" indent="0" defTabSz="168021">
              <a:spcBef>
                <a:spcPts val="1400"/>
              </a:spcBef>
              <a:buSzTx/>
              <a:buNone/>
              <a:defRPr b="1" sz="1176"/>
            </a:pPr>
            <a:r>
              <a:t>The Power of AI Pair Programming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